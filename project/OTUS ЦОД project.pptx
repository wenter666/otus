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  <p:sldMasterId id="2147483680" r:id="rId2"/>
  </p:sldMasterIdLst>
  <p:notesMasterIdLst>
    <p:notesMasterId r:id="rId24"/>
  </p:notesMasterIdLst>
  <p:sldIdLst>
    <p:sldId id="269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7" r:id="rId12"/>
    <p:sldId id="268" r:id="rId13"/>
    <p:sldId id="265" r:id="rId14"/>
    <p:sldId id="266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6284A0-B14C-4C2D-B731-6C7B5FDCEEF5}">
  <a:tblStyle styleId="{E96284A0-B14C-4C2D-B731-6C7B5FDCEE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7f5ce68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7f5ce68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7f5ce68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7f5ce68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1937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110043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6115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2495993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5729595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995936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879288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2432671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6378024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578621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5972369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0001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9062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8494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2440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5426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6081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53790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39034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8622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7200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45850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О себе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4173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Раздел+описание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1338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33661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Слайд с кодом 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46188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Слайд с кодом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8662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Слайд КОД+ТЕКСТ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04209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Слайд КОД+ТЕКСТ 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354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77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89753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Дизайн сетей ЦОД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/>
              <a:t>Меня хорошо видно</a:t>
            </a:r>
            <a:endParaRPr sz="4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&amp; слышно?</a:t>
            </a:r>
            <a:endParaRPr sz="4000" dirty="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44400" y="2507825"/>
            <a:ext cx="1033800" cy="198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>
              <a:buSzPts val="1100"/>
            </a:pPr>
            <a:r>
              <a:rPr lang="ru" sz="3000" dirty="0"/>
              <a:t>Тема: </a:t>
            </a:r>
            <a:r>
              <a:rPr lang="en-US" sz="2000" b="1" dirty="0" err="1">
                <a:solidFill>
                  <a:srgbClr val="050505"/>
                </a:solidFill>
                <a:latin typeface="Roboto" panose="02000000000000000000" pitchFamily="2" charset="0"/>
              </a:rPr>
              <a:t>M</a:t>
            </a:r>
            <a:r>
              <a:rPr lang="en-US" sz="2000" b="1" i="0" dirty="0" err="1">
                <a:solidFill>
                  <a:srgbClr val="050505"/>
                </a:solidFill>
                <a:effectLst/>
                <a:latin typeface="Roboto" panose="02000000000000000000" pitchFamily="2" charset="0"/>
              </a:rPr>
              <a:t>ultipod</a:t>
            </a:r>
            <a:r>
              <a:rPr lang="ru-RU" sz="2000" b="1" i="0" dirty="0">
                <a:solidFill>
                  <a:srgbClr val="050505"/>
                </a:solidFill>
                <a:effectLst/>
                <a:latin typeface="Roboto" panose="02000000000000000000" pitchFamily="2" charset="0"/>
              </a:rPr>
              <a:t> между </a:t>
            </a:r>
            <a:r>
              <a:rPr lang="en-US" sz="2000" b="1" i="0" dirty="0">
                <a:solidFill>
                  <a:srgbClr val="050505"/>
                </a:solidFill>
                <a:effectLst/>
                <a:latin typeface="Roboto" panose="02000000000000000000" pitchFamily="2" charset="0"/>
              </a:rPr>
              <a:t>Arista </a:t>
            </a:r>
            <a:r>
              <a:rPr lang="ru-RU" sz="2000" b="1" i="0" dirty="0">
                <a:solidFill>
                  <a:srgbClr val="050505"/>
                </a:solidFill>
                <a:effectLst/>
                <a:latin typeface="Roboto" panose="02000000000000000000" pitchFamily="2" charset="0"/>
              </a:rPr>
              <a:t>и </a:t>
            </a:r>
            <a:r>
              <a:rPr lang="en-US" sz="2000" b="1" i="0" dirty="0">
                <a:solidFill>
                  <a:srgbClr val="050505"/>
                </a:solidFill>
                <a:effectLst/>
                <a:latin typeface="Roboto" panose="02000000000000000000" pitchFamily="2" charset="0"/>
              </a:rPr>
              <a:t>Juniper</a:t>
            </a:r>
            <a:br>
              <a:rPr lang="en-US" sz="1400" b="1" i="0" dirty="0">
                <a:solidFill>
                  <a:srgbClr val="050505"/>
                </a:solidFill>
                <a:effectLst/>
                <a:latin typeface="Roboto" panose="02000000000000000000" pitchFamily="2" charset="0"/>
              </a:rPr>
            </a:br>
            <a:br>
              <a:rPr lang="ru-RU" sz="1600" b="1" i="0" dirty="0">
                <a:solidFill>
                  <a:srgbClr val="1F2328"/>
                </a:solidFill>
                <a:effectLst/>
                <a:latin typeface="-apple-system"/>
              </a:rPr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/>
          <p:nvPr/>
        </p:nvSpPr>
        <p:spPr>
          <a:xfrm>
            <a:off x="3123850" y="2716325"/>
            <a:ext cx="58563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Шантур Владислав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23850" y="3322925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Сетевой инженер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Roboto"/>
                <a:ea typeface="Roboto"/>
                <a:cs typeface="Roboto"/>
                <a:sym typeface="Roboto"/>
              </a:rPr>
              <a:t>ООО «РТК-Сервис»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План защиты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Используемые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технологии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ru" sz="13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получилось</a:t>
            </a:r>
            <a:endParaRPr sz="130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Схемы/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>
            <a:stCxn id="95" idx="1"/>
            <a:endCxn id="96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9"/>
          <p:cNvCxnSpPr>
            <a:stCxn id="96" idx="1"/>
            <a:endCxn id="97" idx="1"/>
          </p:cNvCxnSpPr>
          <p:nvPr/>
        </p:nvCxnSpPr>
        <p:spPr>
          <a:xfrm>
            <a:off x="786525" y="3714200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C7ABE5B-78A2-40E4-A48F-AD44413EE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77367"/>
              </p:ext>
            </p:extLst>
          </p:nvPr>
        </p:nvGraphicFramePr>
        <p:xfrm>
          <a:off x="822325" y="1384300"/>
          <a:ext cx="6776781" cy="1746520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6776781">
                  <a:extLst>
                    <a:ext uri="{9D8B030D-6E8A-4147-A177-3AD203B41FA5}">
                      <a16:colId xmlns:a16="http://schemas.microsoft.com/office/drawing/2014/main" val="2485789147"/>
                    </a:ext>
                  </a:extLst>
                </a:gridCol>
              </a:tblGrid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Спроектировать сети по топологии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CLOS 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056197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Распределить адресные пулы адресов для 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underlay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overlay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уровней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291074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все технологии изученные в процессе обучения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034106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Multipod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между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Arista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Juniper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544305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Построение отказоустойчивой масштабируемой сети 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28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522853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Что планировалось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" name="Google Shape;115;p21">
            <a:extLst>
              <a:ext uri="{FF2B5EF4-FFF2-40B4-BE49-F238E27FC236}">
                <a16:creationId xmlns:a16="http://schemas.microsoft.com/office/drawing/2014/main" id="{FD1F484F-2E7B-4319-9CDA-175519C2D5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2837244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подключение серверов к 2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резервирования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Проверить связность между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POD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ами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одного клиента 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L2VNI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Проверить связность внутри и между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PODами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разных клиентов через L3VNI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 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Организовать единую точку выхода из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4489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Используемые технологии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1691360927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MCLAG, LACP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VXLAN, VLAN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OSPF, eBGP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 idx="4294967295"/>
          </p:nvPr>
        </p:nvSpPr>
        <p:spPr>
          <a:xfrm>
            <a:off x="3559900" y="1"/>
            <a:ext cx="1472900" cy="6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latin typeface="Roboto" panose="02000000000000000000" pitchFamily="2" charset="0"/>
                <a:ea typeface="Roboto" panose="02000000000000000000" pitchFamily="2" charset="0"/>
              </a:rPr>
              <a:t>Схем</a:t>
            </a:r>
            <a:r>
              <a:rPr lang="ru-RU" sz="3000" dirty="0">
                <a:latin typeface="Roboto" panose="02000000000000000000" pitchFamily="2" charset="0"/>
                <a:ea typeface="Roboto" panose="02000000000000000000" pitchFamily="2" charset="0"/>
              </a:rPr>
              <a:t>а</a:t>
            </a:r>
            <a:endParaRPr sz="3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FF3CF3-CA09-4A21-BA58-51597D5B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9" y="492381"/>
            <a:ext cx="7819201" cy="42407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r>
              <a:rPr lang="en-US" sz="3000" dirty="0"/>
              <a:t>:</a:t>
            </a:r>
            <a:endParaRPr sz="3000" dirty="0"/>
          </a:p>
        </p:txBody>
      </p:sp>
      <p:sp>
        <p:nvSpPr>
          <p:cNvPr id="130" name="Google Shape;130;p23"/>
          <p:cNvSpPr txBox="1"/>
          <p:nvPr/>
        </p:nvSpPr>
        <p:spPr>
          <a:xfrm>
            <a:off x="0" y="390312"/>
            <a:ext cx="8468475" cy="39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Client1 POD Juniper </a:t>
            </a:r>
            <a:r>
              <a:rPr lang="ru-RU" sz="15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подключен посредство технологии </a:t>
            </a:r>
            <a:r>
              <a:rPr lang="en-US" sz="15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MCLAG</a:t>
            </a:r>
            <a:endParaRPr sz="15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2968B3-41F0-4F69-9CBC-0F90777DD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3" y="714655"/>
            <a:ext cx="4616728" cy="378534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197DDB-0911-4EBC-9EB7-18311B903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714654"/>
            <a:ext cx="4552709" cy="37853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598E20-EEC3-42E6-BB73-250F8E0F4F70}"/>
              </a:ext>
            </a:extLst>
          </p:cNvPr>
          <p:cNvSpPr txBox="1"/>
          <p:nvPr/>
        </p:nvSpPr>
        <p:spPr>
          <a:xfrm>
            <a:off x="115971" y="2793600"/>
            <a:ext cx="2943247" cy="81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F20052-E409-42E7-BF0A-E7BA883CBE8E}"/>
              </a:ext>
            </a:extLst>
          </p:cNvPr>
          <p:cNvSpPr txBox="1"/>
          <p:nvPr/>
        </p:nvSpPr>
        <p:spPr>
          <a:xfrm>
            <a:off x="4571999" y="2793600"/>
            <a:ext cx="3007265" cy="86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FA2D2-C05F-457C-A4A5-7D5CC044DA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520113" cy="576000"/>
          </a:xfrm>
        </p:spPr>
        <p:txBody>
          <a:bodyPr>
            <a:normAutofit/>
          </a:bodyPr>
          <a:lstStyle/>
          <a:p>
            <a:r>
              <a:rPr lang="ru" sz="16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Проверить связность между </a:t>
            </a:r>
            <a:r>
              <a:rPr lang="ru-RU" sz="1600" dirty="0" err="1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PODами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одного клиента через L2VNI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91AE35-9F0C-4E2C-8161-3C9C4D120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576000"/>
            <a:ext cx="7804801" cy="4149459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A6BFB6-6E00-43FD-BF8F-8BD7B4C5FBF1}"/>
              </a:ext>
            </a:extLst>
          </p:cNvPr>
          <p:cNvSpPr/>
          <p:nvPr/>
        </p:nvSpPr>
        <p:spPr>
          <a:xfrm>
            <a:off x="837712" y="2772000"/>
            <a:ext cx="842400" cy="114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1155D5-E4A2-489C-A575-2F48F4155D6B}"/>
              </a:ext>
            </a:extLst>
          </p:cNvPr>
          <p:cNvSpPr/>
          <p:nvPr/>
        </p:nvSpPr>
        <p:spPr>
          <a:xfrm>
            <a:off x="4403888" y="2499749"/>
            <a:ext cx="1281600" cy="2225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D58B902-ECC1-432B-8C5A-7610B124427D}"/>
              </a:ext>
            </a:extLst>
          </p:cNvPr>
          <p:cNvCxnSpPr>
            <a:cxnSpLocks/>
          </p:cNvCxnSpPr>
          <p:nvPr/>
        </p:nvCxnSpPr>
        <p:spPr>
          <a:xfrm>
            <a:off x="1584000" y="3790847"/>
            <a:ext cx="3355200" cy="615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84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29663F-7923-496B-8FDB-9741D08008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520113" cy="57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" sz="16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Проверить связность между </a:t>
            </a:r>
            <a:r>
              <a:rPr lang="ru-RU" sz="1600" dirty="0" err="1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PODами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одного клиента через L2VNI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C63308-529A-4F04-B4F5-F6E3C4DB8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1" y="540138"/>
            <a:ext cx="4531979" cy="237572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43C7F77-3547-4023-AB7F-B798590A7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1" y="2951820"/>
            <a:ext cx="5674533" cy="89353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85B514E-0E86-47A4-9238-044A38023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0" y="3881315"/>
            <a:ext cx="5674533" cy="84625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D1DE44F-23E9-4C4F-9C42-B29F83C18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999" y="1376273"/>
            <a:ext cx="4417980" cy="1348210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8EE7440-3091-45B6-AC6D-26453932151E}"/>
              </a:ext>
            </a:extLst>
          </p:cNvPr>
          <p:cNvSpPr txBox="1">
            <a:spLocks/>
          </p:cNvSpPr>
          <p:nvPr/>
        </p:nvSpPr>
        <p:spPr>
          <a:xfrm>
            <a:off x="4612021" y="723163"/>
            <a:ext cx="4417979" cy="57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Пинг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Client1 POD ARISTA -&gt;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Client1 POD Juniper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248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98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" sz="16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Проверить связность внутри и между </a:t>
            </a:r>
            <a:r>
              <a:rPr lang="ru-RU" sz="1600" dirty="0" err="1">
                <a:latin typeface="Roboto"/>
                <a:ea typeface="Roboto"/>
                <a:cs typeface="Roboto"/>
                <a:sym typeface="Roboto"/>
              </a:rPr>
              <a:t>PODами</a:t>
            </a: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 разных клиентов через L3VNI</a:t>
            </a:r>
            <a:br>
              <a:rPr lang="ru-RU" sz="1600" dirty="0">
                <a:latin typeface="Roboto"/>
                <a:ea typeface="Roboto"/>
                <a:cs typeface="Roboto"/>
                <a:sym typeface="Roboto"/>
              </a:rPr>
            </a:br>
            <a:br>
              <a:rPr lang="ru-RU" sz="3200" dirty="0">
                <a:latin typeface="Roboto" panose="02000000000000000000" pitchFamily="2" charset="0"/>
                <a:ea typeface="Roboto" panose="02000000000000000000" pitchFamily="2" charset="0"/>
              </a:rPr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B8E304-1D0D-4886-9D35-0A4E53C42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" y="576000"/>
            <a:ext cx="7804801" cy="4149459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3637B4-9550-4A8D-9230-2239422DA867}"/>
              </a:ext>
            </a:extLst>
          </p:cNvPr>
          <p:cNvSpPr/>
          <p:nvPr/>
        </p:nvSpPr>
        <p:spPr>
          <a:xfrm>
            <a:off x="715312" y="2664000"/>
            <a:ext cx="947888" cy="13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5E4A3A-C491-4690-98F9-9D57F0DF3F62}"/>
              </a:ext>
            </a:extLst>
          </p:cNvPr>
          <p:cNvSpPr/>
          <p:nvPr/>
        </p:nvSpPr>
        <p:spPr>
          <a:xfrm>
            <a:off x="1657200" y="2664000"/>
            <a:ext cx="947888" cy="13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9BF073-4854-4193-8010-7B764C2B468C}"/>
              </a:ext>
            </a:extLst>
          </p:cNvPr>
          <p:cNvSpPr/>
          <p:nvPr/>
        </p:nvSpPr>
        <p:spPr>
          <a:xfrm>
            <a:off x="5911200" y="2664000"/>
            <a:ext cx="1000688" cy="13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5F0FAF1-6730-425B-98B5-A9549572F7CF}"/>
              </a:ext>
            </a:extLst>
          </p:cNvPr>
          <p:cNvCxnSpPr/>
          <p:nvPr/>
        </p:nvCxnSpPr>
        <p:spPr>
          <a:xfrm>
            <a:off x="1296000" y="3693600"/>
            <a:ext cx="626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8913EF3D-6177-43C8-897A-A996CA455B9A}"/>
              </a:ext>
            </a:extLst>
          </p:cNvPr>
          <p:cNvCxnSpPr>
            <a:cxnSpLocks/>
          </p:cNvCxnSpPr>
          <p:nvPr/>
        </p:nvCxnSpPr>
        <p:spPr>
          <a:xfrm>
            <a:off x="2605088" y="3853200"/>
            <a:ext cx="33061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099F92-6F72-4E40-8B66-28996C146E9A}"/>
              </a:ext>
            </a:extLst>
          </p:cNvPr>
          <p:cNvSpPr txBox="1"/>
          <p:nvPr/>
        </p:nvSpPr>
        <p:spPr>
          <a:xfrm>
            <a:off x="0" y="9975"/>
            <a:ext cx="892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6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Проверить связность внутри и между </a:t>
            </a:r>
            <a:r>
              <a:rPr lang="ru-RU" sz="1600" dirty="0" err="1">
                <a:latin typeface="Roboto"/>
                <a:ea typeface="Roboto"/>
                <a:cs typeface="Roboto"/>
                <a:sym typeface="Roboto"/>
              </a:rPr>
              <a:t>PODами</a:t>
            </a: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 разных клиентов через L3VNI</a:t>
            </a:r>
            <a:endParaRPr lang="ru-RU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A80580-7F7B-4152-A41F-C7C10031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67" y="871125"/>
            <a:ext cx="8271723" cy="3401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FF7278-EC25-4D1C-9FF1-BDB71F031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007" y="764670"/>
            <a:ext cx="5844193" cy="3982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F3EE20-9EEA-48BC-904A-BC4FDF638481}"/>
              </a:ext>
            </a:extLst>
          </p:cNvPr>
          <p:cNvSpPr txBox="1"/>
          <p:nvPr/>
        </p:nvSpPr>
        <p:spPr>
          <a:xfrm>
            <a:off x="169200" y="99935"/>
            <a:ext cx="878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8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Проверить связность внутри и между </a:t>
            </a:r>
            <a:r>
              <a:rPr lang="ru-RU" sz="1800" dirty="0" err="1">
                <a:latin typeface="Roboto"/>
                <a:ea typeface="Roboto"/>
                <a:cs typeface="Roboto"/>
                <a:sym typeface="Roboto"/>
              </a:rPr>
              <a:t>PODами</a:t>
            </a: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 разных клиентов через L3VNI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514717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520643-3C94-4D42-8479-A297C7AD3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99" y="925687"/>
            <a:ext cx="5588161" cy="36031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155385-9A4A-4C06-BC4C-5E6B7F3DB69D}"/>
              </a:ext>
            </a:extLst>
          </p:cNvPr>
          <p:cNvSpPr txBox="1"/>
          <p:nvPr/>
        </p:nvSpPr>
        <p:spPr>
          <a:xfrm>
            <a:off x="169200" y="99935"/>
            <a:ext cx="878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8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Проверить связность внутри и между </a:t>
            </a:r>
            <a:r>
              <a:rPr lang="ru-RU" sz="1800" dirty="0" err="1">
                <a:latin typeface="Roboto"/>
                <a:ea typeface="Roboto"/>
                <a:cs typeface="Roboto"/>
                <a:sym typeface="Roboto"/>
              </a:rPr>
              <a:t>PODами</a:t>
            </a: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 разных клиентов через L3VNI</a:t>
            </a:r>
            <a:endParaRPr lang="ru-RU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330CC-F026-49ED-A4F0-1CD274109F45}"/>
              </a:ext>
            </a:extLst>
          </p:cNvPr>
          <p:cNvSpPr txBox="1"/>
          <p:nvPr/>
        </p:nvSpPr>
        <p:spPr>
          <a:xfrm>
            <a:off x="5757360" y="1037635"/>
            <a:ext cx="322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Пинг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Client2 POD Juniper -&gt;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Client1 POD ARISTA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6485A-1499-4474-A08D-A3278EEDF204}"/>
              </a:ext>
            </a:extLst>
          </p:cNvPr>
          <p:cNvSpPr txBox="1"/>
          <p:nvPr/>
        </p:nvSpPr>
        <p:spPr>
          <a:xfrm>
            <a:off x="5757360" y="1884631"/>
            <a:ext cx="322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Пинг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Client2 POD Juniper -&gt;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Client1 POD Juniper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E9A73-3A38-4B4A-8354-6B7BCD755E68}"/>
              </a:ext>
            </a:extLst>
          </p:cNvPr>
          <p:cNvSpPr txBox="1"/>
          <p:nvPr/>
        </p:nvSpPr>
        <p:spPr>
          <a:xfrm>
            <a:off x="5757360" y="2914327"/>
            <a:ext cx="322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Пинг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Client2 POD Juniper -&gt;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Client3 POD ARISTA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379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7EF2EB-6BA7-46C7-B4C0-ECD977697E2D}"/>
              </a:ext>
            </a:extLst>
          </p:cNvPr>
          <p:cNvSpPr txBox="1"/>
          <p:nvPr/>
        </p:nvSpPr>
        <p:spPr>
          <a:xfrm>
            <a:off x="81000" y="0"/>
            <a:ext cx="898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8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Проверить связность внутри и между </a:t>
            </a:r>
            <a:r>
              <a:rPr lang="ru-RU" sz="1800" dirty="0" err="1">
                <a:latin typeface="Roboto"/>
                <a:ea typeface="Roboto"/>
                <a:cs typeface="Roboto"/>
                <a:sym typeface="Roboto"/>
              </a:rPr>
              <a:t>PODами</a:t>
            </a: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 разных клиентов через L3VNI</a:t>
            </a:r>
            <a:endParaRPr lang="en-US" sz="1800" dirty="0">
              <a:latin typeface="Roboto"/>
              <a:ea typeface="Roboto"/>
              <a:cs typeface="Roboto"/>
              <a:sym typeface="Roboto"/>
            </a:endParaRPr>
          </a:p>
          <a:p>
            <a:r>
              <a:rPr lang="ru-RU" sz="1800" dirty="0">
                <a:latin typeface="Roboto"/>
                <a:ea typeface="Roboto"/>
                <a:sym typeface="Roboto"/>
              </a:rPr>
              <a:t>Немного настроек на стыке </a:t>
            </a:r>
            <a:r>
              <a:rPr lang="en-US" sz="1800" dirty="0">
                <a:latin typeface="Roboto"/>
                <a:ea typeface="Roboto"/>
                <a:sym typeface="Roboto"/>
              </a:rPr>
              <a:t>ARISTA --- Juniper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B6D425-AB89-4073-968A-6C5A5EBFB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1" y="923330"/>
            <a:ext cx="5239800" cy="119570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FF0CA4-6EDF-4202-91F4-A5CDDCF31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482" y="923330"/>
            <a:ext cx="3657917" cy="118882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56972B-0F44-4661-A090-2105D209D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9" y="2362950"/>
            <a:ext cx="6606011" cy="22810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3BD5996-0D1F-4690-8014-EADEE26CD2C2}"/>
              </a:ext>
            </a:extLst>
          </p:cNvPr>
          <p:cNvSpPr/>
          <p:nvPr/>
        </p:nvSpPr>
        <p:spPr>
          <a:xfrm>
            <a:off x="81000" y="4082400"/>
            <a:ext cx="4865400" cy="54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947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5E1589-6392-4303-B9B7-A53611D9EBD8}"/>
              </a:ext>
            </a:extLst>
          </p:cNvPr>
          <p:cNvSpPr txBox="1"/>
          <p:nvPr/>
        </p:nvSpPr>
        <p:spPr>
          <a:xfrm>
            <a:off x="0" y="0"/>
            <a:ext cx="919800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Организовать единую точку выхода из </a:t>
            </a:r>
            <a:r>
              <a:rPr lang="ru-RU" sz="1800" dirty="0" err="1">
                <a:latin typeface="Roboto"/>
                <a:ea typeface="Roboto"/>
                <a:cs typeface="Roboto"/>
                <a:sym typeface="Roboto"/>
              </a:rPr>
              <a:t>ЦОДа</a:t>
            </a:r>
            <a:endParaRPr lang="ru-RU" sz="18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C98ABF-05A0-433E-B74C-2EC0BCEE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56" y="707501"/>
            <a:ext cx="7557488" cy="401797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AA3DE3E-B53A-4C52-966D-C60527E02701}"/>
              </a:ext>
            </a:extLst>
          </p:cNvPr>
          <p:cNvSpPr/>
          <p:nvPr/>
        </p:nvSpPr>
        <p:spPr>
          <a:xfrm>
            <a:off x="7135200" y="3096000"/>
            <a:ext cx="1195200" cy="144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1C5DF-3685-47F6-8D25-DEB09C0FE6A2}"/>
              </a:ext>
            </a:extLst>
          </p:cNvPr>
          <p:cNvSpPr txBox="1"/>
          <p:nvPr/>
        </p:nvSpPr>
        <p:spPr>
          <a:xfrm>
            <a:off x="7473600" y="2808000"/>
            <a:ext cx="7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0/0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753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07B829-A668-48A6-A5C0-1467366D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9" y="1632903"/>
            <a:ext cx="9007621" cy="6248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CD2B02-8FD5-46B3-917B-8E0102820070}"/>
              </a:ext>
            </a:extLst>
          </p:cNvPr>
          <p:cNvSpPr txBox="1"/>
          <p:nvPr/>
        </p:nvSpPr>
        <p:spPr>
          <a:xfrm>
            <a:off x="126000" y="29315"/>
            <a:ext cx="711000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Организовать единую точку выхода из </a:t>
            </a:r>
            <a:r>
              <a:rPr lang="ru-RU" sz="1800" dirty="0" err="1">
                <a:latin typeface="Roboto"/>
                <a:ea typeface="Roboto"/>
                <a:cs typeface="Roboto"/>
                <a:sym typeface="Roboto"/>
              </a:rPr>
              <a:t>ЦОДа</a:t>
            </a:r>
            <a:endParaRPr lang="ru-RU" sz="18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8ED2807-99A4-4118-95B8-BD0284D55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9" y="2660076"/>
            <a:ext cx="6264183" cy="12345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330978-81DA-495D-B91F-EEB131D26323}"/>
              </a:ext>
            </a:extLst>
          </p:cNvPr>
          <p:cNvSpPr txBox="1"/>
          <p:nvPr/>
        </p:nvSpPr>
        <p:spPr>
          <a:xfrm>
            <a:off x="597600" y="1166400"/>
            <a:ext cx="203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ARISTA LEAF1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2E39B-5BC3-4135-911B-450D9C99D615}"/>
              </a:ext>
            </a:extLst>
          </p:cNvPr>
          <p:cNvSpPr txBox="1"/>
          <p:nvPr/>
        </p:nvSpPr>
        <p:spPr>
          <a:xfrm>
            <a:off x="597600" y="2286136"/>
            <a:ext cx="203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Juniper LEAF1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D406DD5-F9E3-43CF-A3EE-3A8D7260C90F}"/>
              </a:ext>
            </a:extLst>
          </p:cNvPr>
          <p:cNvSpPr/>
          <p:nvPr/>
        </p:nvSpPr>
        <p:spPr>
          <a:xfrm>
            <a:off x="8337600" y="1785600"/>
            <a:ext cx="496800" cy="4721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F606825-B0EC-4B81-A0F2-E5B55184C79E}"/>
              </a:ext>
            </a:extLst>
          </p:cNvPr>
          <p:cNvSpPr/>
          <p:nvPr/>
        </p:nvSpPr>
        <p:spPr>
          <a:xfrm>
            <a:off x="3297600" y="2952000"/>
            <a:ext cx="676800" cy="67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40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895A17-8F3E-4DBB-A709-2C177597AD1A}"/>
              </a:ext>
            </a:extLst>
          </p:cNvPr>
          <p:cNvSpPr txBox="1"/>
          <p:nvPr/>
        </p:nvSpPr>
        <p:spPr>
          <a:xfrm>
            <a:off x="111600" y="134975"/>
            <a:ext cx="634680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latin typeface="Roboto" panose="02000000000000000000" pitchFamily="2" charset="0"/>
                <a:ea typeface="Roboto" panose="02000000000000000000" pitchFamily="2" charset="0"/>
              </a:rPr>
              <a:t>Что получилось</a:t>
            </a:r>
            <a:b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Организовать единую точку выхода из </a:t>
            </a:r>
            <a:r>
              <a:rPr lang="ru-RU" sz="1800" dirty="0" err="1">
                <a:latin typeface="Roboto"/>
                <a:ea typeface="Roboto"/>
                <a:cs typeface="Roboto"/>
                <a:sym typeface="Roboto"/>
              </a:rPr>
              <a:t>ЦОДа</a:t>
            </a:r>
            <a:endParaRPr lang="ru-RU" sz="18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F4887A-7AAE-47FF-BAF8-EE059FEF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" y="1121889"/>
            <a:ext cx="4451430" cy="11250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C58F1C-1D98-487C-A176-FE7FA5A43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" y="2768773"/>
            <a:ext cx="4460399" cy="11250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5922AD-C977-45B1-9013-D2A714138EB8}"/>
              </a:ext>
            </a:extLst>
          </p:cNvPr>
          <p:cNvSpPr txBox="1"/>
          <p:nvPr/>
        </p:nvSpPr>
        <p:spPr>
          <a:xfrm>
            <a:off x="245281" y="796384"/>
            <a:ext cx="351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Пинг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Client1 POD ARISTA -&gt;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8.8.8.8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A5301F-27EA-437A-B1C8-8B752C51B514}"/>
              </a:ext>
            </a:extLst>
          </p:cNvPr>
          <p:cNvSpPr txBox="1"/>
          <p:nvPr/>
        </p:nvSpPr>
        <p:spPr>
          <a:xfrm>
            <a:off x="229918" y="240545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Пинг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Client3 POD ARISTA -&gt;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8.8.8.8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9CE0CA-AA0E-4660-92C1-99F23B0A737C}"/>
              </a:ext>
            </a:extLst>
          </p:cNvPr>
          <p:cNvSpPr txBox="1"/>
          <p:nvPr/>
        </p:nvSpPr>
        <p:spPr>
          <a:xfrm>
            <a:off x="4904881" y="796384"/>
            <a:ext cx="351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Пинг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Client1 POD Juniper -&gt;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8.8.8.8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72B7E2-9BDB-401A-A9FB-A285BF19D155}"/>
              </a:ext>
            </a:extLst>
          </p:cNvPr>
          <p:cNvSpPr txBox="1"/>
          <p:nvPr/>
        </p:nvSpPr>
        <p:spPr>
          <a:xfrm>
            <a:off x="4904881" y="2387084"/>
            <a:ext cx="3893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Пинг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Client2 POD Juniper -&gt;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8.8.8.8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D739717-FBC3-4F96-8BCE-C7B56875C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602" y="1121889"/>
            <a:ext cx="4348798" cy="112508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CBD1A84-3196-4C5F-AC89-BF1D4AA24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632" y="2768773"/>
            <a:ext cx="4469368" cy="112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9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1;p25">
            <a:extLst>
              <a:ext uri="{FF2B5EF4-FFF2-40B4-BE49-F238E27FC236}">
                <a16:creationId xmlns:a16="http://schemas.microsoft.com/office/drawing/2014/main" id="{45FFC766-09AD-41C0-9928-F34C4CAA5667}"/>
              </a:ext>
            </a:extLst>
          </p:cNvPr>
          <p:cNvSpPr txBox="1">
            <a:spLocks/>
          </p:cNvSpPr>
          <p:nvPr/>
        </p:nvSpPr>
        <p:spPr>
          <a:xfrm>
            <a:off x="500550" y="330724"/>
            <a:ext cx="7945050" cy="547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ru-RU" sz="3000"/>
              <a:t>Выводы и планы по развитию</a:t>
            </a:r>
          </a:p>
          <a:p>
            <a:pPr>
              <a:spcBef>
                <a:spcPts val="0"/>
              </a:spcBef>
            </a:pPr>
            <a:endParaRPr lang="ru-RU" sz="3000"/>
          </a:p>
          <a:p>
            <a:pPr>
              <a:spcBef>
                <a:spcPts val="0"/>
              </a:spcBef>
            </a:pPr>
            <a:endParaRPr lang="ru-RU" sz="3000"/>
          </a:p>
          <a:p>
            <a:pPr>
              <a:spcBef>
                <a:spcPts val="0"/>
              </a:spcBef>
            </a:pPr>
            <a:endParaRPr lang="ru-RU" dirty="0"/>
          </a:p>
        </p:txBody>
      </p:sp>
      <p:graphicFrame>
        <p:nvGraphicFramePr>
          <p:cNvPr id="3" name="Google Shape;142;p25">
            <a:extLst>
              <a:ext uri="{FF2B5EF4-FFF2-40B4-BE49-F238E27FC236}">
                <a16:creationId xmlns:a16="http://schemas.microsoft.com/office/drawing/2014/main" id="{88745E42-0710-4FB1-8A25-5CF50C9B9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3839675"/>
              </p:ext>
            </p:extLst>
          </p:nvPr>
        </p:nvGraphicFramePr>
        <p:xfrm>
          <a:off x="952500" y="1544194"/>
          <a:ext cx="7223150" cy="2430034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7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Получилось организовать отказоустойчивость как на подключения 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так и  маршрутизации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лабораторной получилось протестировать, падение одного из участников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MCLAG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лабораторной удалось организовать связность между двумя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POD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лабораторной удалось организовать единую точку выхода в интернет.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Данная схема сильно зависит от оборудования и софта (так на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QFX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версии 17 собрать лабу не удалось)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126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701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Спасибо за внимание!</a:t>
            </a:r>
            <a:br>
              <a:rPr lang="ru" sz="5000" b="0"/>
            </a:b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594</TotalTime>
  <Words>415</Words>
  <Application>Microsoft Office PowerPoint</Application>
  <PresentationFormat>Экран (16:9)</PresentationFormat>
  <Paragraphs>79</Paragraphs>
  <Slides>21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-apple-system</vt:lpstr>
      <vt:lpstr>Arial</vt:lpstr>
      <vt:lpstr>Calibri</vt:lpstr>
      <vt:lpstr>Calibri Light</vt:lpstr>
      <vt:lpstr>Courier New</vt:lpstr>
      <vt:lpstr>Roboto</vt:lpstr>
      <vt:lpstr>Ретро</vt:lpstr>
      <vt:lpstr>Светлая тема</vt:lpstr>
      <vt:lpstr>Дизайн сетей ЦОД </vt:lpstr>
      <vt:lpstr>Меня хорошо видно &amp; слышно?</vt:lpstr>
      <vt:lpstr>Защита проекта Тема: Multipod между Arista и Juniper    </vt:lpstr>
      <vt:lpstr>План защиты </vt:lpstr>
      <vt:lpstr>Цели проекта</vt:lpstr>
      <vt:lpstr>Что планировалось </vt:lpstr>
      <vt:lpstr>Используемые технологии  </vt:lpstr>
      <vt:lpstr>Схема   </vt:lpstr>
      <vt:lpstr>Что получилось:</vt:lpstr>
      <vt:lpstr>Что получилось Проверить связность между PODами одного клиента через L2VNI</vt:lpstr>
      <vt:lpstr>Презентация PowerPoint</vt:lpstr>
      <vt:lpstr>Что получилось Проверить связность внутри и между PODами разных клиентов через L3VNI 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</dc:title>
  <dc:creator>AKA</dc:creator>
  <cp:lastModifiedBy>Владислав Шантур</cp:lastModifiedBy>
  <cp:revision>23</cp:revision>
  <dcterms:modified xsi:type="dcterms:W3CDTF">2026-03-18T15:16:31Z</dcterms:modified>
</cp:coreProperties>
</file>